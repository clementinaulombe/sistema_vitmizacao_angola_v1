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0" r:id="rId1"/>
  </p:sldMasterIdLst>
  <p:sldIdLst>
    <p:sldId id="256" r:id="rId2"/>
    <p:sldId id="257" r:id="rId3"/>
    <p:sldId id="283" r:id="rId4"/>
    <p:sldId id="284" r:id="rId5"/>
    <p:sldId id="261" r:id="rId6"/>
    <p:sldId id="285" r:id="rId7"/>
    <p:sldId id="263" r:id="rId8"/>
    <p:sldId id="264" r:id="rId9"/>
    <p:sldId id="266" r:id="rId10"/>
    <p:sldId id="268" r:id="rId11"/>
    <p:sldId id="269" r:id="rId12"/>
    <p:sldId id="270" r:id="rId13"/>
    <p:sldId id="277" r:id="rId1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82551" autoAdjust="0"/>
  </p:normalViewPr>
  <p:slideViewPr>
    <p:cSldViewPr>
      <p:cViewPr varScale="1">
        <p:scale>
          <a:sx n="86" d="100"/>
          <a:sy n="86" d="100"/>
        </p:scale>
        <p:origin x="102" y="22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E85F78-E71F-4D52-83B8-5E7E6C42935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48E0FC53-8BCA-4F39-9DFB-42E606A1A301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PT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Métodos teóricos</a:t>
          </a:r>
        </a:p>
      </dgm:t>
    </dgm:pt>
    <dgm:pt modelId="{CC2329A4-A883-4934-910D-8968324C989E}" type="parTrans" cxnId="{AD2C30FE-F8DE-41D4-87CC-403B55A7799F}">
      <dgm:prSet/>
      <dgm:spPr/>
      <dgm:t>
        <a:bodyPr/>
        <a:lstStyle/>
        <a:p>
          <a:endParaRPr lang="pt-PT"/>
        </a:p>
      </dgm:t>
    </dgm:pt>
    <dgm:pt modelId="{DD1B656D-82D7-4A31-B9B1-7EE504DC3B6E}" type="sibTrans" cxnId="{AD2C30FE-F8DE-41D4-87CC-403B55A7799F}">
      <dgm:prSet/>
      <dgm:spPr/>
      <dgm:t>
        <a:bodyPr/>
        <a:lstStyle/>
        <a:p>
          <a:endParaRPr lang="pt-PT"/>
        </a:p>
      </dgm:t>
    </dgm:pt>
    <dgm:pt modelId="{7526DD2E-9B6D-411F-BA98-E61CDAE0ADFE}">
      <dgm:prSet phldrT="[Texto]" custT="1"/>
      <dgm:spPr>
        <a:solidFill>
          <a:schemeClr val="bg2">
            <a:lumMod val="90000"/>
            <a:alpha val="90000"/>
          </a:schemeClr>
        </a:solidFill>
      </dgm:spPr>
      <dgm:t>
        <a:bodyPr/>
        <a:lstStyle/>
        <a:p>
          <a:r>
            <a:rPr lang="pt-PT" sz="2400" b="0" dirty="0">
              <a:latin typeface="Times New Roman" panose="02020603050405020304" pitchFamily="18" charset="0"/>
              <a:cs typeface="Times New Roman" panose="02020603050405020304" pitchFamily="18" charset="0"/>
            </a:rPr>
            <a:t>Método de análise-síntese;</a:t>
          </a:r>
        </a:p>
      </dgm:t>
    </dgm:pt>
    <dgm:pt modelId="{76C0F0C4-29C5-43B9-83E5-E71D34CA2BFE}" type="parTrans" cxnId="{3F3D738E-477C-4028-B708-4DA224992FAD}">
      <dgm:prSet/>
      <dgm:spPr/>
      <dgm:t>
        <a:bodyPr/>
        <a:lstStyle/>
        <a:p>
          <a:endParaRPr lang="pt-PT"/>
        </a:p>
      </dgm:t>
    </dgm:pt>
    <dgm:pt modelId="{F183EFB0-7194-498B-A234-47B3D30E14E1}" type="sibTrans" cxnId="{3F3D738E-477C-4028-B708-4DA224992FAD}">
      <dgm:prSet/>
      <dgm:spPr/>
      <dgm:t>
        <a:bodyPr/>
        <a:lstStyle/>
        <a:p>
          <a:endParaRPr lang="pt-PT"/>
        </a:p>
      </dgm:t>
    </dgm:pt>
    <dgm:pt modelId="{9322B7DA-D463-4BF2-873D-4E5C9C3701D2}">
      <dgm:prSet phldrT="[Texto]" custT="1"/>
      <dgm:spPr>
        <a:solidFill>
          <a:schemeClr val="bg2">
            <a:lumMod val="90000"/>
            <a:alpha val="90000"/>
          </a:schemeClr>
        </a:solidFill>
      </dgm:spPr>
      <dgm:t>
        <a:bodyPr/>
        <a:lstStyle/>
        <a:p>
          <a:r>
            <a:rPr lang="pt-PT" sz="2400" b="0" dirty="0"/>
            <a:t>Método indutivo-dedutivo;</a:t>
          </a:r>
          <a:endParaRPr lang="pt-PT" sz="24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398C16-8961-4FAC-BB12-4DB2C1A40F53}" type="parTrans" cxnId="{AD1E79AD-5CF4-47BF-B541-E48CA9809C68}">
      <dgm:prSet/>
      <dgm:spPr/>
      <dgm:t>
        <a:bodyPr/>
        <a:lstStyle/>
        <a:p>
          <a:endParaRPr lang="pt-PT"/>
        </a:p>
      </dgm:t>
    </dgm:pt>
    <dgm:pt modelId="{A96E942A-745A-45B0-A6CC-38616ECD453A}" type="sibTrans" cxnId="{AD1E79AD-5CF4-47BF-B541-E48CA9809C68}">
      <dgm:prSet/>
      <dgm:spPr/>
      <dgm:t>
        <a:bodyPr/>
        <a:lstStyle/>
        <a:p>
          <a:endParaRPr lang="pt-PT"/>
        </a:p>
      </dgm:t>
    </dgm:pt>
    <dgm:pt modelId="{877AC9EF-A21A-4A8D-960A-2E7F64410290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PT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Métodos empíricos</a:t>
          </a:r>
        </a:p>
      </dgm:t>
    </dgm:pt>
    <dgm:pt modelId="{AB54B3A4-3B39-4588-BACB-61FEC4EE95CB}" type="parTrans" cxnId="{7F305E81-3272-4EC8-B5B7-8E02AA3B02E9}">
      <dgm:prSet/>
      <dgm:spPr/>
      <dgm:t>
        <a:bodyPr/>
        <a:lstStyle/>
        <a:p>
          <a:endParaRPr lang="pt-PT"/>
        </a:p>
      </dgm:t>
    </dgm:pt>
    <dgm:pt modelId="{D96EB134-DB53-42A5-A401-EC1A5A8B7D38}" type="sibTrans" cxnId="{7F305E81-3272-4EC8-B5B7-8E02AA3B02E9}">
      <dgm:prSet/>
      <dgm:spPr/>
      <dgm:t>
        <a:bodyPr/>
        <a:lstStyle/>
        <a:p>
          <a:endParaRPr lang="pt-PT"/>
        </a:p>
      </dgm:t>
    </dgm:pt>
    <dgm:pt modelId="{74C028C2-259B-4F7B-9E09-18A5D1753330}">
      <dgm:prSet phldrT="[Texto]" custT="1"/>
      <dgm:spPr>
        <a:solidFill>
          <a:schemeClr val="bg2">
            <a:lumMod val="90000"/>
            <a:alpha val="90000"/>
          </a:schemeClr>
        </a:solidFill>
      </dgm:spPr>
      <dgm:t>
        <a:bodyPr/>
        <a:lstStyle/>
        <a:p>
          <a:r>
            <a:rPr lang="pt-PT" sz="2400" b="0" dirty="0">
              <a:latin typeface="Times New Roman" panose="02020603050405020304" pitchFamily="18" charset="0"/>
              <a:cs typeface="Times New Roman" panose="02020603050405020304" pitchFamily="18" charset="0"/>
            </a:rPr>
            <a:t>Método estatístico</a:t>
          </a:r>
        </a:p>
      </dgm:t>
    </dgm:pt>
    <dgm:pt modelId="{63711323-11C8-4715-A1DE-C024F5AEB582}" type="parTrans" cxnId="{8FBFCF0F-38C8-49B4-9400-735CB6D21EC7}">
      <dgm:prSet/>
      <dgm:spPr/>
      <dgm:t>
        <a:bodyPr/>
        <a:lstStyle/>
        <a:p>
          <a:endParaRPr lang="pt-PT"/>
        </a:p>
      </dgm:t>
    </dgm:pt>
    <dgm:pt modelId="{5A478C71-33F3-478B-858A-B95B810A5E92}" type="sibTrans" cxnId="{8FBFCF0F-38C8-49B4-9400-735CB6D21EC7}">
      <dgm:prSet/>
      <dgm:spPr/>
      <dgm:t>
        <a:bodyPr/>
        <a:lstStyle/>
        <a:p>
          <a:endParaRPr lang="pt-PT"/>
        </a:p>
      </dgm:t>
    </dgm:pt>
    <dgm:pt modelId="{B28166B2-EC81-46F0-A80D-EAC050C7F5E6}">
      <dgm:prSet phldrT="[Texto]" custT="1"/>
      <dgm:spPr>
        <a:solidFill>
          <a:schemeClr val="bg2">
            <a:lumMod val="90000"/>
            <a:alpha val="90000"/>
          </a:schemeClr>
        </a:solidFill>
      </dgm:spPr>
      <dgm:t>
        <a:bodyPr/>
        <a:lstStyle/>
        <a:p>
          <a:r>
            <a:rPr lang="pt-PT" sz="2400" b="0" dirty="0"/>
            <a:t>Método hipotético-dedutivo.</a:t>
          </a:r>
          <a:endParaRPr lang="pt-PT" sz="24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F4E4DE9-B28C-4B58-9E30-FB8B735819B6}" type="parTrans" cxnId="{807685A9-57E5-4975-9491-B4FC9D2FDD14}">
      <dgm:prSet/>
      <dgm:spPr/>
      <dgm:t>
        <a:bodyPr/>
        <a:lstStyle/>
        <a:p>
          <a:endParaRPr lang="pt-PT"/>
        </a:p>
      </dgm:t>
    </dgm:pt>
    <dgm:pt modelId="{6D4197E3-7C5D-4150-B214-2A97A1EF90A6}" type="sibTrans" cxnId="{807685A9-57E5-4975-9491-B4FC9D2FDD14}">
      <dgm:prSet/>
      <dgm:spPr/>
      <dgm:t>
        <a:bodyPr/>
        <a:lstStyle/>
        <a:p>
          <a:endParaRPr lang="pt-PT"/>
        </a:p>
      </dgm:t>
    </dgm:pt>
    <dgm:pt modelId="{7F115389-8393-4B33-81B7-ECF1542CD528}" type="pres">
      <dgm:prSet presAssocID="{44E85F78-E71F-4D52-83B8-5E7E6C42935C}" presName="Name0" presStyleCnt="0">
        <dgm:presLayoutVars>
          <dgm:dir/>
          <dgm:animLvl val="lvl"/>
          <dgm:resizeHandles val="exact"/>
        </dgm:presLayoutVars>
      </dgm:prSet>
      <dgm:spPr/>
    </dgm:pt>
    <dgm:pt modelId="{7A093258-6EAD-4D0E-952F-0CE5D5E31BA5}" type="pres">
      <dgm:prSet presAssocID="{48E0FC53-8BCA-4F39-9DFB-42E606A1A301}" presName="linNode" presStyleCnt="0"/>
      <dgm:spPr/>
    </dgm:pt>
    <dgm:pt modelId="{09AAE0D8-6F8B-4451-A3AB-DF692C394A45}" type="pres">
      <dgm:prSet presAssocID="{48E0FC53-8BCA-4F39-9DFB-42E606A1A301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90B8B3C7-FA53-488E-B9B9-26ADCBF54A67}" type="pres">
      <dgm:prSet presAssocID="{48E0FC53-8BCA-4F39-9DFB-42E606A1A301}" presName="descendantText" presStyleLbl="alignAccFollowNode1" presStyleIdx="0" presStyleCnt="2">
        <dgm:presLayoutVars>
          <dgm:bulletEnabled val="1"/>
        </dgm:presLayoutVars>
      </dgm:prSet>
      <dgm:spPr/>
    </dgm:pt>
    <dgm:pt modelId="{0D07011C-355D-406E-B1C1-AFAF8719393E}" type="pres">
      <dgm:prSet presAssocID="{DD1B656D-82D7-4A31-B9B1-7EE504DC3B6E}" presName="sp" presStyleCnt="0"/>
      <dgm:spPr/>
    </dgm:pt>
    <dgm:pt modelId="{12A0098A-29BF-47E6-8645-2953FD9FE460}" type="pres">
      <dgm:prSet presAssocID="{877AC9EF-A21A-4A8D-960A-2E7F64410290}" presName="linNode" presStyleCnt="0"/>
      <dgm:spPr/>
    </dgm:pt>
    <dgm:pt modelId="{0D9C94F6-8072-4A65-9213-760E4449E3CA}" type="pres">
      <dgm:prSet presAssocID="{877AC9EF-A21A-4A8D-960A-2E7F64410290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43D8392E-6CD6-42BD-869F-A9B433D8BA5E}" type="pres">
      <dgm:prSet presAssocID="{877AC9EF-A21A-4A8D-960A-2E7F64410290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8FBFCF0F-38C8-49B4-9400-735CB6D21EC7}" srcId="{877AC9EF-A21A-4A8D-960A-2E7F64410290}" destId="{74C028C2-259B-4F7B-9E09-18A5D1753330}" srcOrd="0" destOrd="0" parTransId="{63711323-11C8-4715-A1DE-C024F5AEB582}" sibTransId="{5A478C71-33F3-478B-858A-B95B810A5E92}"/>
    <dgm:cxn modelId="{CF2E9231-F85C-4F1B-9195-B98CDF2563AA}" type="presOf" srcId="{44E85F78-E71F-4D52-83B8-5E7E6C42935C}" destId="{7F115389-8393-4B33-81B7-ECF1542CD528}" srcOrd="0" destOrd="0" presId="urn:microsoft.com/office/officeart/2005/8/layout/vList5"/>
    <dgm:cxn modelId="{E594FC5E-FC5D-46AB-AD39-A3D221387999}" type="presOf" srcId="{7526DD2E-9B6D-411F-BA98-E61CDAE0ADFE}" destId="{90B8B3C7-FA53-488E-B9B9-26ADCBF54A67}" srcOrd="0" destOrd="0" presId="urn:microsoft.com/office/officeart/2005/8/layout/vList5"/>
    <dgm:cxn modelId="{ED6A0776-D65F-4A2A-B8FD-B8086848EAA9}" type="presOf" srcId="{48E0FC53-8BCA-4F39-9DFB-42E606A1A301}" destId="{09AAE0D8-6F8B-4451-A3AB-DF692C394A45}" srcOrd="0" destOrd="0" presId="urn:microsoft.com/office/officeart/2005/8/layout/vList5"/>
    <dgm:cxn modelId="{7F305E81-3272-4EC8-B5B7-8E02AA3B02E9}" srcId="{44E85F78-E71F-4D52-83B8-5E7E6C42935C}" destId="{877AC9EF-A21A-4A8D-960A-2E7F64410290}" srcOrd="1" destOrd="0" parTransId="{AB54B3A4-3B39-4588-BACB-61FEC4EE95CB}" sibTransId="{D96EB134-DB53-42A5-A401-EC1A5A8B7D38}"/>
    <dgm:cxn modelId="{446FFB86-1039-4A9D-B262-D1911EF50ADA}" type="presOf" srcId="{B28166B2-EC81-46F0-A80D-EAC050C7F5E6}" destId="{90B8B3C7-FA53-488E-B9B9-26ADCBF54A67}" srcOrd="0" destOrd="2" presId="urn:microsoft.com/office/officeart/2005/8/layout/vList5"/>
    <dgm:cxn modelId="{3F3D738E-477C-4028-B708-4DA224992FAD}" srcId="{48E0FC53-8BCA-4F39-9DFB-42E606A1A301}" destId="{7526DD2E-9B6D-411F-BA98-E61CDAE0ADFE}" srcOrd="0" destOrd="0" parTransId="{76C0F0C4-29C5-43B9-83E5-E71D34CA2BFE}" sibTransId="{F183EFB0-7194-498B-A234-47B3D30E14E1}"/>
    <dgm:cxn modelId="{807685A9-57E5-4975-9491-B4FC9D2FDD14}" srcId="{48E0FC53-8BCA-4F39-9DFB-42E606A1A301}" destId="{B28166B2-EC81-46F0-A80D-EAC050C7F5E6}" srcOrd="2" destOrd="0" parTransId="{BF4E4DE9-B28C-4B58-9E30-FB8B735819B6}" sibTransId="{6D4197E3-7C5D-4150-B214-2A97A1EF90A6}"/>
    <dgm:cxn modelId="{AD1E79AD-5CF4-47BF-B541-E48CA9809C68}" srcId="{48E0FC53-8BCA-4F39-9DFB-42E606A1A301}" destId="{9322B7DA-D463-4BF2-873D-4E5C9C3701D2}" srcOrd="1" destOrd="0" parTransId="{AF398C16-8961-4FAC-BB12-4DB2C1A40F53}" sibTransId="{A96E942A-745A-45B0-A6CC-38616ECD453A}"/>
    <dgm:cxn modelId="{614599C4-8B87-4B71-BD05-51DDA6ECD487}" type="presOf" srcId="{877AC9EF-A21A-4A8D-960A-2E7F64410290}" destId="{0D9C94F6-8072-4A65-9213-760E4449E3CA}" srcOrd="0" destOrd="0" presId="urn:microsoft.com/office/officeart/2005/8/layout/vList5"/>
    <dgm:cxn modelId="{A866F4CD-F896-4E5B-8B2B-D847C8385ECA}" type="presOf" srcId="{9322B7DA-D463-4BF2-873D-4E5C9C3701D2}" destId="{90B8B3C7-FA53-488E-B9B9-26ADCBF54A67}" srcOrd="0" destOrd="1" presId="urn:microsoft.com/office/officeart/2005/8/layout/vList5"/>
    <dgm:cxn modelId="{BBED40FD-301C-4EA4-8108-10211D52A89C}" type="presOf" srcId="{74C028C2-259B-4F7B-9E09-18A5D1753330}" destId="{43D8392E-6CD6-42BD-869F-A9B433D8BA5E}" srcOrd="0" destOrd="0" presId="urn:microsoft.com/office/officeart/2005/8/layout/vList5"/>
    <dgm:cxn modelId="{AD2C30FE-F8DE-41D4-87CC-403B55A7799F}" srcId="{44E85F78-E71F-4D52-83B8-5E7E6C42935C}" destId="{48E0FC53-8BCA-4F39-9DFB-42E606A1A301}" srcOrd="0" destOrd="0" parTransId="{CC2329A4-A883-4934-910D-8968324C989E}" sibTransId="{DD1B656D-82D7-4A31-B9B1-7EE504DC3B6E}"/>
    <dgm:cxn modelId="{C6845835-DB54-4D97-B3B0-D8A982D3A849}" type="presParOf" srcId="{7F115389-8393-4B33-81B7-ECF1542CD528}" destId="{7A093258-6EAD-4D0E-952F-0CE5D5E31BA5}" srcOrd="0" destOrd="0" presId="urn:microsoft.com/office/officeart/2005/8/layout/vList5"/>
    <dgm:cxn modelId="{F6E07C29-7FBB-4D71-8CB3-111EDC4CF751}" type="presParOf" srcId="{7A093258-6EAD-4D0E-952F-0CE5D5E31BA5}" destId="{09AAE0D8-6F8B-4451-A3AB-DF692C394A45}" srcOrd="0" destOrd="0" presId="urn:microsoft.com/office/officeart/2005/8/layout/vList5"/>
    <dgm:cxn modelId="{EF6F4C97-1054-4601-975C-2203C68FF015}" type="presParOf" srcId="{7A093258-6EAD-4D0E-952F-0CE5D5E31BA5}" destId="{90B8B3C7-FA53-488E-B9B9-26ADCBF54A67}" srcOrd="1" destOrd="0" presId="urn:microsoft.com/office/officeart/2005/8/layout/vList5"/>
    <dgm:cxn modelId="{DB7CB9A3-BCC5-41E6-8B04-ED2E63C94689}" type="presParOf" srcId="{7F115389-8393-4B33-81B7-ECF1542CD528}" destId="{0D07011C-355D-406E-B1C1-AFAF8719393E}" srcOrd="1" destOrd="0" presId="urn:microsoft.com/office/officeart/2005/8/layout/vList5"/>
    <dgm:cxn modelId="{E6796324-529F-477F-A988-435992055CB4}" type="presParOf" srcId="{7F115389-8393-4B33-81B7-ECF1542CD528}" destId="{12A0098A-29BF-47E6-8645-2953FD9FE460}" srcOrd="2" destOrd="0" presId="urn:microsoft.com/office/officeart/2005/8/layout/vList5"/>
    <dgm:cxn modelId="{3A967F7A-9B9E-4B93-B5A0-281BB196272F}" type="presParOf" srcId="{12A0098A-29BF-47E6-8645-2953FD9FE460}" destId="{0D9C94F6-8072-4A65-9213-760E4449E3CA}" srcOrd="0" destOrd="0" presId="urn:microsoft.com/office/officeart/2005/8/layout/vList5"/>
    <dgm:cxn modelId="{F34D3F9D-E139-4D36-A2AA-36CC69755F0F}" type="presParOf" srcId="{12A0098A-29BF-47E6-8645-2953FD9FE460}" destId="{43D8392E-6CD6-42BD-869F-A9B433D8BA5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B8B3C7-FA53-488E-B9B9-26ADCBF54A67}">
      <dsp:nvSpPr>
        <dsp:cNvPr id="0" name=""/>
        <dsp:cNvSpPr/>
      </dsp:nvSpPr>
      <dsp:spPr>
        <a:xfrm rot="5400000">
          <a:off x="4362051" y="-1535080"/>
          <a:ext cx="1328201" cy="4730496"/>
        </a:xfrm>
        <a:prstGeom prst="round2SameRect">
          <a:avLst/>
        </a:prstGeom>
        <a:solidFill>
          <a:schemeClr val="bg2">
            <a:lumMod val="9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Método de análise-síntese;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400" b="0" kern="1200" dirty="0"/>
            <a:t>Método indutivo-dedutivo;</a:t>
          </a:r>
          <a:endParaRPr lang="pt-PT" sz="24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400" b="0" kern="1200" dirty="0"/>
            <a:t>Método hipotético-dedutivo.</a:t>
          </a:r>
          <a:endParaRPr lang="pt-PT" sz="24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660904" y="230904"/>
        <a:ext cx="4665659" cy="1198527"/>
      </dsp:txXfrm>
    </dsp:sp>
    <dsp:sp modelId="{09AAE0D8-6F8B-4451-A3AB-DF692C394A45}">
      <dsp:nvSpPr>
        <dsp:cNvPr id="0" name=""/>
        <dsp:cNvSpPr/>
      </dsp:nvSpPr>
      <dsp:spPr>
        <a:xfrm>
          <a:off x="0" y="41"/>
          <a:ext cx="2660904" cy="1660252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Métodos teóricos</a:t>
          </a:r>
        </a:p>
      </dsp:txBody>
      <dsp:txXfrm>
        <a:off x="81047" y="81088"/>
        <a:ext cx="2498810" cy="1498158"/>
      </dsp:txXfrm>
    </dsp:sp>
    <dsp:sp modelId="{43D8392E-6CD6-42BD-869F-A9B433D8BA5E}">
      <dsp:nvSpPr>
        <dsp:cNvPr id="0" name=""/>
        <dsp:cNvSpPr/>
      </dsp:nvSpPr>
      <dsp:spPr>
        <a:xfrm rot="5400000">
          <a:off x="4362051" y="208184"/>
          <a:ext cx="1328201" cy="4730496"/>
        </a:xfrm>
        <a:prstGeom prst="round2SameRect">
          <a:avLst/>
        </a:prstGeom>
        <a:solidFill>
          <a:schemeClr val="bg2">
            <a:lumMod val="9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2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Método estatístico</a:t>
          </a:r>
        </a:p>
      </dsp:txBody>
      <dsp:txXfrm rot="-5400000">
        <a:off x="2660904" y="1974169"/>
        <a:ext cx="4665659" cy="1198527"/>
      </dsp:txXfrm>
    </dsp:sp>
    <dsp:sp modelId="{0D9C94F6-8072-4A65-9213-760E4449E3CA}">
      <dsp:nvSpPr>
        <dsp:cNvPr id="0" name=""/>
        <dsp:cNvSpPr/>
      </dsp:nvSpPr>
      <dsp:spPr>
        <a:xfrm>
          <a:off x="0" y="1743306"/>
          <a:ext cx="2660904" cy="1660252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Métodos empíricos</a:t>
          </a:r>
        </a:p>
      </dsp:txBody>
      <dsp:txXfrm>
        <a:off x="81047" y="1824353"/>
        <a:ext cx="2498810" cy="1498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6680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22510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5472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97185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4021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34115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01572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29977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32904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90096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33736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894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8181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0230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2511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svg"/><Relationship Id="rId21" Type="http://schemas.openxmlformats.org/officeDocument/2006/relationships/image" Target="../media/image21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6551" y="1192148"/>
            <a:ext cx="633031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INSTITUTO</a:t>
            </a:r>
            <a:r>
              <a:rPr sz="1600" spc="-20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SUPERIOR</a:t>
            </a:r>
            <a:r>
              <a:rPr sz="1600" spc="-35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POLITÉCNICO</a:t>
            </a:r>
            <a:r>
              <a:rPr sz="1600" spc="-25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1600" spc="-30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CIÊNCIAS</a:t>
            </a:r>
            <a:r>
              <a:rPr sz="1600" spc="-30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00" spc="-35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18181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TECNOLOGIA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3729" y="1409401"/>
            <a:ext cx="6798309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1600" b="0" dirty="0">
                <a:latin typeface="Times New Roman"/>
                <a:cs typeface="Times New Roman"/>
              </a:rPr>
              <a:t>CURSO</a:t>
            </a:r>
            <a:r>
              <a:rPr sz="1600" b="0" spc="-55" dirty="0">
                <a:latin typeface="Times New Roman"/>
                <a:cs typeface="Times New Roman"/>
              </a:rPr>
              <a:t> </a:t>
            </a:r>
            <a:r>
              <a:rPr sz="1600" b="0" dirty="0">
                <a:latin typeface="Times New Roman"/>
                <a:cs typeface="Times New Roman"/>
              </a:rPr>
              <a:t>DE</a:t>
            </a:r>
            <a:r>
              <a:rPr lang="pt-PT" sz="1600" b="0" dirty="0">
                <a:latin typeface="Times New Roman"/>
                <a:cs typeface="Times New Roman"/>
              </a:rPr>
              <a:t> CIÊNCIAS CRIMINAIS</a:t>
            </a:r>
            <a:r>
              <a:rPr sz="1600" b="0" spc="-40" dirty="0">
                <a:latin typeface="Times New Roman"/>
                <a:cs typeface="Times New Roman"/>
              </a:rPr>
              <a:t> </a:t>
            </a:r>
            <a:r>
              <a:rPr lang="pt-PT" sz="1600" b="0" spc="-40" dirty="0">
                <a:latin typeface="Times New Roman"/>
                <a:cs typeface="Times New Roman"/>
              </a:rPr>
              <a:t> E </a:t>
            </a:r>
            <a:br>
              <a:rPr lang="pt-PT" sz="1600" b="0" spc="-40" dirty="0">
                <a:latin typeface="Times New Roman"/>
                <a:cs typeface="Times New Roman"/>
              </a:rPr>
            </a:br>
            <a:r>
              <a:rPr lang="pt-PT" sz="1600" b="0" dirty="0">
                <a:latin typeface="Times New Roman"/>
                <a:cs typeface="Times New Roman"/>
              </a:rPr>
              <a:t>ENGENHARIA</a:t>
            </a:r>
            <a:r>
              <a:rPr lang="pt-PT" sz="1600" b="0" spc="-40" dirty="0">
                <a:latin typeface="Times New Roman"/>
                <a:cs typeface="Times New Roman"/>
              </a:rPr>
              <a:t> </a:t>
            </a:r>
            <a:r>
              <a:rPr lang="pt-PT" sz="1600" b="0" dirty="0">
                <a:latin typeface="Times New Roman"/>
                <a:cs typeface="Times New Roman"/>
              </a:rPr>
              <a:t>INFORMÁTICA</a:t>
            </a:r>
            <a:r>
              <a:rPr lang="pt-PT" sz="1600" b="0" spc="-30" dirty="0">
                <a:latin typeface="Times New Roman"/>
                <a:cs typeface="Times New Roman"/>
              </a:rPr>
              <a:t> </a:t>
            </a:r>
            <a:r>
              <a:rPr lang="pt-PT" sz="1600" b="0" dirty="0">
                <a:latin typeface="Times New Roman"/>
                <a:cs typeface="Times New Roman"/>
              </a:rPr>
              <a:t>E</a:t>
            </a:r>
            <a:r>
              <a:rPr lang="pt-PT" sz="1600" b="0" spc="-35" dirty="0">
                <a:latin typeface="Times New Roman"/>
                <a:cs typeface="Times New Roman"/>
              </a:rPr>
              <a:t> </a:t>
            </a:r>
            <a:r>
              <a:rPr lang="pt-PT" sz="1600" b="0" dirty="0">
                <a:latin typeface="Times New Roman"/>
                <a:cs typeface="Times New Roman"/>
              </a:rPr>
              <a:t>SISTEMAS</a:t>
            </a:r>
            <a:r>
              <a:rPr lang="pt-PT" sz="1600" b="0" spc="-20" dirty="0">
                <a:latin typeface="Times New Roman"/>
                <a:cs typeface="Times New Roman"/>
              </a:rPr>
              <a:t> </a:t>
            </a:r>
            <a:r>
              <a:rPr lang="pt-PT" sz="1600" b="0" dirty="0">
                <a:latin typeface="Times New Roman"/>
                <a:cs typeface="Times New Roman"/>
              </a:rPr>
              <a:t>DE</a:t>
            </a:r>
            <a:r>
              <a:rPr lang="pt-PT" sz="1600" b="0" spc="-45" dirty="0">
                <a:latin typeface="Times New Roman"/>
                <a:cs typeface="Times New Roman"/>
              </a:rPr>
              <a:t> </a:t>
            </a:r>
            <a:r>
              <a:rPr lang="pt-PT" sz="1600" b="0" spc="-10" dirty="0">
                <a:latin typeface="Times New Roman"/>
                <a:cs typeface="Times New Roman"/>
              </a:rPr>
              <a:t>I</a:t>
            </a:r>
            <a:r>
              <a:rPr sz="1600" b="0" spc="-10" dirty="0">
                <a:latin typeface="Times New Roman"/>
                <a:cs typeface="Times New Roman"/>
              </a:rPr>
              <a:t>NFORMAÇÃO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1" y="57149"/>
            <a:ext cx="1523999" cy="67152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214120" y="2101078"/>
            <a:ext cx="6715759" cy="27469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539" marR="5080" indent="-117475" algn="ctr">
              <a:lnSpc>
                <a:spcPct val="100000"/>
              </a:lnSpc>
              <a:spcBef>
                <a:spcPts val="100"/>
              </a:spcBef>
            </a:pPr>
            <a:r>
              <a:rPr lang="pt-PT" b="1" spc="-10" dirty="0">
                <a:solidFill>
                  <a:srgbClr val="181818"/>
                </a:solidFill>
                <a:latin typeface="Times New Roman"/>
                <a:cs typeface="Times New Roman"/>
              </a:rPr>
              <a:t>Desenvolvimento</a:t>
            </a:r>
            <a:r>
              <a:rPr lang="pt-PT" b="1" spc="-35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lang="pt-PT" b="1" dirty="0">
                <a:solidFill>
                  <a:srgbClr val="181818"/>
                </a:solidFill>
                <a:latin typeface="Times New Roman"/>
                <a:cs typeface="Times New Roman"/>
              </a:rPr>
              <a:t>de</a:t>
            </a:r>
            <a:r>
              <a:rPr lang="pt-PT" b="1" spc="-15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lang="pt-PT" b="1" dirty="0">
                <a:solidFill>
                  <a:srgbClr val="181818"/>
                </a:solidFill>
                <a:latin typeface="Times New Roman"/>
                <a:cs typeface="Times New Roman"/>
              </a:rPr>
              <a:t>uma</a:t>
            </a:r>
            <a:r>
              <a:rPr lang="pt-PT" b="1" spc="-15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lang="pt-PT" b="1" spc="-10" dirty="0">
                <a:solidFill>
                  <a:srgbClr val="181818"/>
                </a:solidFill>
                <a:latin typeface="Times New Roman"/>
                <a:cs typeface="Times New Roman"/>
              </a:rPr>
              <a:t>Plataforma</a:t>
            </a:r>
            <a:r>
              <a:rPr lang="pt-PT" b="1" spc="-65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lang="pt-PT" b="1" dirty="0">
                <a:solidFill>
                  <a:srgbClr val="181818"/>
                </a:solidFill>
                <a:latin typeface="Times New Roman"/>
                <a:cs typeface="Times New Roman"/>
              </a:rPr>
              <a:t>Digital com base na Ánalise do Inquérito de Vitimização Criminal e Percepção de Segurança Pública no Município da Samba, no Ano de 2025</a:t>
            </a:r>
          </a:p>
          <a:p>
            <a:pPr marL="129539" marR="5080" indent="-117475" algn="ctr">
              <a:lnSpc>
                <a:spcPct val="100000"/>
              </a:lnSpc>
              <a:spcBef>
                <a:spcPts val="100"/>
              </a:spcBef>
            </a:pPr>
            <a:endParaRPr lang="pt-PT" dirty="0">
              <a:latin typeface="Times New Roman"/>
              <a:cs typeface="Times New Roman"/>
            </a:endParaRPr>
          </a:p>
          <a:p>
            <a:pPr marL="572135">
              <a:lnSpc>
                <a:spcPct val="100000"/>
              </a:lnSpc>
            </a:pPr>
            <a:endParaRPr lang="pt-PT" sz="1600" b="1" dirty="0">
              <a:solidFill>
                <a:srgbClr val="181818"/>
              </a:solidFill>
              <a:latin typeface="Times New Roman"/>
              <a:cs typeface="Times New Roman"/>
            </a:endParaRPr>
          </a:p>
          <a:p>
            <a:pPr marL="572135">
              <a:lnSpc>
                <a:spcPct val="100000"/>
              </a:lnSpc>
            </a:pPr>
            <a:r>
              <a:rPr lang="pt-PT" sz="1600" b="1" dirty="0">
                <a:solidFill>
                  <a:srgbClr val="181818"/>
                </a:solidFill>
                <a:latin typeface="Times New Roman"/>
                <a:cs typeface="Times New Roman"/>
              </a:rPr>
              <a:t>Autoras: </a:t>
            </a:r>
            <a:r>
              <a:rPr lang="pt-PT" sz="1600" dirty="0">
                <a:solidFill>
                  <a:schemeClr val="tx1"/>
                </a:solidFill>
                <a:latin typeface="Times New Roman"/>
                <a:cs typeface="Times New Roman"/>
              </a:rPr>
              <a:t>Celina Elizabeth José e Clementina Katchinombelo Ulombe</a:t>
            </a:r>
          </a:p>
          <a:p>
            <a:pPr marL="572135">
              <a:lnSpc>
                <a:spcPct val="100000"/>
              </a:lnSpc>
            </a:pPr>
            <a:endParaRPr lang="pt-PT" sz="16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572135">
              <a:lnSpc>
                <a:spcPct val="100000"/>
              </a:lnSpc>
            </a:pPr>
            <a:r>
              <a:rPr lang="pt-PT" sz="1600" b="1" dirty="0">
                <a:solidFill>
                  <a:srgbClr val="181818"/>
                </a:solidFill>
                <a:latin typeface="Times New Roman"/>
                <a:cs typeface="Times New Roman"/>
              </a:rPr>
              <a:t>Orientadores: </a:t>
            </a:r>
            <a:r>
              <a:rPr lang="pt-PT" sz="1600" dirty="0">
                <a:solidFill>
                  <a:srgbClr val="181818"/>
                </a:solidFill>
                <a:latin typeface="Times New Roman"/>
                <a:cs typeface="Times New Roman"/>
              </a:rPr>
              <a:t>Juan Rúben Herrera Masó e Rouget Ruano</a:t>
            </a:r>
            <a:endParaRPr lang="pt-PT"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lang="pt-PT" sz="1600" dirty="0">
              <a:latin typeface="Times New Roman"/>
              <a:cs typeface="Times New Roman"/>
            </a:endParaRPr>
          </a:p>
          <a:p>
            <a:pPr marL="180975" algn="ctr">
              <a:lnSpc>
                <a:spcPct val="100000"/>
              </a:lnSpc>
              <a:spcBef>
                <a:spcPts val="5"/>
              </a:spcBef>
            </a:pPr>
            <a:r>
              <a:rPr lang="pt-PT" sz="1400" dirty="0">
                <a:solidFill>
                  <a:srgbClr val="181818"/>
                </a:solidFill>
                <a:latin typeface="Times New Roman"/>
                <a:cs typeface="Times New Roman"/>
              </a:rPr>
              <a:t>Luanda</a:t>
            </a:r>
            <a:r>
              <a:rPr lang="pt-PT" sz="1400" spc="-30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lang="pt-PT" sz="1400" dirty="0">
                <a:solidFill>
                  <a:srgbClr val="181818"/>
                </a:solidFill>
                <a:latin typeface="Times New Roman"/>
                <a:cs typeface="Times New Roman"/>
              </a:rPr>
              <a:t>-</a:t>
            </a:r>
            <a:r>
              <a:rPr lang="pt-PT" sz="1400" spc="-25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lang="pt-PT" sz="1400" spc="-20" dirty="0">
                <a:solidFill>
                  <a:srgbClr val="181818"/>
                </a:solidFill>
                <a:latin typeface="Times New Roman"/>
                <a:cs typeface="Times New Roman"/>
              </a:rPr>
              <a:t>2026</a:t>
            </a:r>
            <a:endParaRPr lang="pt-PT"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038350"/>
            <a:ext cx="44958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2319116"/>
            <a:ext cx="5562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pt-PT"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PROBLEMA DE PESQUISA</a:t>
            </a:r>
            <a:endParaRPr sz="3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560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2319116"/>
            <a:ext cx="5562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pt-PT"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HIPÓTESES</a:t>
            </a:r>
            <a:endParaRPr sz="3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127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2066483"/>
            <a:ext cx="7886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algn="ctr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OBJECTIVO</a:t>
            </a:r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GERAL</a:t>
            </a:r>
            <a:endParaRPr sz="3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2066483"/>
            <a:ext cx="7886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algn="ctr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OBJECTIVO</a:t>
            </a:r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ESPECÍFICOS</a:t>
            </a:r>
            <a:endParaRPr sz="3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669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518095"/>
            <a:ext cx="7475855" cy="37035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9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81818"/>
                </a:solidFill>
                <a:latin typeface="Times New Roman"/>
                <a:cs typeface="Times New Roman"/>
              </a:rPr>
              <a:t>METODOLOGIA</a:t>
            </a:r>
            <a:r>
              <a:rPr sz="2400" b="1" spc="-35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181818"/>
                </a:solidFill>
                <a:latin typeface="Times New Roman"/>
                <a:cs typeface="Times New Roman"/>
              </a:rPr>
              <a:t>DE</a:t>
            </a:r>
            <a:r>
              <a:rPr sz="2400" b="1" spc="-20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181818"/>
                </a:solidFill>
                <a:latin typeface="Times New Roman"/>
                <a:cs typeface="Times New Roman"/>
              </a:rPr>
              <a:t>PESQUISA</a:t>
            </a:r>
          </a:p>
          <a:p>
            <a:pPr marL="165100">
              <a:lnSpc>
                <a:spcPct val="100000"/>
              </a:lnSpc>
              <a:spcBef>
                <a:spcPts val="2280"/>
              </a:spcBef>
            </a:pPr>
            <a:endParaRPr lang="pt-PT" sz="2400" dirty="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2280"/>
              </a:spcBef>
            </a:pPr>
            <a:endParaRPr lang="pt-PT" sz="2400" b="1" dirty="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2280"/>
              </a:spcBef>
            </a:pPr>
            <a:endParaRPr lang="pt-PT" sz="2400" dirty="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2280"/>
              </a:spcBef>
            </a:pPr>
            <a:endParaRPr lang="pt-PT" sz="2400" dirty="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  <a:spcBef>
                <a:spcPts val="2280"/>
              </a:spcBef>
            </a:pPr>
            <a:endParaRPr lang="pt-PT" sz="2400" dirty="0">
              <a:latin typeface="Times New Roman"/>
              <a:cs typeface="Times New Roman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1196741" y="1047749"/>
            <a:ext cx="2156059" cy="55139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Quanto á natureza</a:t>
            </a:r>
          </a:p>
        </p:txBody>
      </p:sp>
      <p:sp>
        <p:nvSpPr>
          <p:cNvPr id="7" name="Retângulo 6"/>
          <p:cNvSpPr/>
          <p:nvPr/>
        </p:nvSpPr>
        <p:spPr>
          <a:xfrm>
            <a:off x="1196741" y="1818491"/>
            <a:ext cx="2156059" cy="55139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Quanto os objectivos</a:t>
            </a:r>
          </a:p>
        </p:txBody>
      </p:sp>
      <p:sp>
        <p:nvSpPr>
          <p:cNvPr id="8" name="Retângulo 7"/>
          <p:cNvSpPr/>
          <p:nvPr/>
        </p:nvSpPr>
        <p:spPr>
          <a:xfrm>
            <a:off x="1196741" y="2638708"/>
            <a:ext cx="2133600" cy="55139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Quanto á abordagem</a:t>
            </a:r>
          </a:p>
        </p:txBody>
      </p:sp>
      <p:sp>
        <p:nvSpPr>
          <p:cNvPr id="9" name="Retângulo 8"/>
          <p:cNvSpPr/>
          <p:nvPr/>
        </p:nvSpPr>
        <p:spPr>
          <a:xfrm>
            <a:off x="1196741" y="3538866"/>
            <a:ext cx="2152851" cy="55139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Quanto o procedimento</a:t>
            </a:r>
          </a:p>
        </p:txBody>
      </p:sp>
      <p:sp>
        <p:nvSpPr>
          <p:cNvPr id="12" name="Seta para a direita 11"/>
          <p:cNvSpPr/>
          <p:nvPr/>
        </p:nvSpPr>
        <p:spPr>
          <a:xfrm>
            <a:off x="4193077" y="1123950"/>
            <a:ext cx="1066800" cy="475192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Seta para a direita 12"/>
          <p:cNvSpPr/>
          <p:nvPr/>
        </p:nvSpPr>
        <p:spPr>
          <a:xfrm>
            <a:off x="4193077" y="1827632"/>
            <a:ext cx="1066800" cy="551393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Seta para a direita 13"/>
          <p:cNvSpPr/>
          <p:nvPr/>
        </p:nvSpPr>
        <p:spPr>
          <a:xfrm>
            <a:off x="4202701" y="2638707"/>
            <a:ext cx="1066800" cy="551393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Seta para a direita 14"/>
          <p:cNvSpPr/>
          <p:nvPr/>
        </p:nvSpPr>
        <p:spPr>
          <a:xfrm>
            <a:off x="4202701" y="3539655"/>
            <a:ext cx="1066800" cy="551393"/>
          </a:xfrm>
          <a:prstGeom prst="righ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15"/>
          <p:cNvSpPr/>
          <p:nvPr/>
        </p:nvSpPr>
        <p:spPr>
          <a:xfrm>
            <a:off x="5663474" y="1085849"/>
            <a:ext cx="2156059" cy="55139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Aplicada e básica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5663473" y="1905668"/>
            <a:ext cx="2156059" cy="55139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Exploratória e descritiva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5663476" y="2690115"/>
            <a:ext cx="2156059" cy="55139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Quantitativa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5676004" y="3509934"/>
            <a:ext cx="2156059" cy="78444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Bibliográfica, de campo e experimental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3927712864"/>
              </p:ext>
            </p:extLst>
          </p:nvPr>
        </p:nvGraphicFramePr>
        <p:xfrm>
          <a:off x="990600" y="539750"/>
          <a:ext cx="7391400" cy="340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241935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100"/>
              </a:spcBef>
            </a:pPr>
            <a:r>
              <a:rPr lang="pt-PT"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FUNDAMENTAÇÃO TEÓRICA</a:t>
            </a:r>
            <a:endParaRPr sz="3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9703" y="579831"/>
            <a:ext cx="678560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FERRAMENTAS</a:t>
            </a:r>
            <a:r>
              <a:rPr spc="-75" dirty="0"/>
              <a:t> </a:t>
            </a:r>
            <a:r>
              <a:rPr dirty="0"/>
              <a:t>UTILIZADAS</a:t>
            </a:r>
            <a:r>
              <a:rPr spc="-65" dirty="0"/>
              <a:t> </a:t>
            </a:r>
            <a:r>
              <a:rPr dirty="0"/>
              <a:t>PARA</a:t>
            </a:r>
            <a:r>
              <a:rPr spc="-105" dirty="0"/>
              <a:t> </a:t>
            </a:r>
            <a:r>
              <a:rPr spc="-50" dirty="0"/>
              <a:t>O</a:t>
            </a: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DESENVOLVIMENDO</a:t>
            </a:r>
            <a:r>
              <a:rPr spc="-45" dirty="0"/>
              <a:t> </a:t>
            </a:r>
            <a:r>
              <a:rPr dirty="0"/>
              <a:t>DA</a:t>
            </a:r>
            <a:r>
              <a:rPr spc="-95" dirty="0"/>
              <a:t> </a:t>
            </a:r>
            <a:r>
              <a:rPr dirty="0"/>
              <a:t>PLATAFORMA</a:t>
            </a:r>
            <a:r>
              <a:rPr spc="-60" dirty="0"/>
              <a:t> </a:t>
            </a:r>
            <a:r>
              <a:rPr spc="-25" dirty="0"/>
              <a:t>WEB</a:t>
            </a:r>
          </a:p>
        </p:txBody>
      </p:sp>
      <p:pic>
        <p:nvPicPr>
          <p:cNvPr id="12" name="Gráfico 4">
            <a:extLst>
              <a:ext uri="{FF2B5EF4-FFF2-40B4-BE49-F238E27FC236}">
                <a16:creationId xmlns:a16="http://schemas.microsoft.com/office/drawing/2014/main" id="{1BD355E0-B6EC-475F-8298-4483CE8917C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964" y="1515877"/>
            <a:ext cx="1058036" cy="827273"/>
          </a:xfrm>
          <a:prstGeom prst="rect">
            <a:avLst/>
          </a:prstGeom>
        </p:spPr>
      </p:pic>
      <p:pic>
        <p:nvPicPr>
          <p:cNvPr id="13" name="Gráfico 5">
            <a:extLst>
              <a:ext uri="{FF2B5EF4-FFF2-40B4-BE49-F238E27FC236}">
                <a16:creationId xmlns:a16="http://schemas.microsoft.com/office/drawing/2014/main" id="{2BBAB3C0-D606-48BD-8AED-1DA6FA1022B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20796" y="1530099"/>
            <a:ext cx="1286510" cy="813051"/>
          </a:xfrm>
          <a:prstGeom prst="rect">
            <a:avLst/>
          </a:prstGeom>
        </p:spPr>
      </p:pic>
      <p:pic>
        <p:nvPicPr>
          <p:cNvPr id="14" name="Gráfico 6">
            <a:extLst>
              <a:ext uri="{FF2B5EF4-FFF2-40B4-BE49-F238E27FC236}">
                <a16:creationId xmlns:a16="http://schemas.microsoft.com/office/drawing/2014/main" id="{8B33DA7F-C0CC-4DF2-8FB3-011B732092E6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3102" y="1496798"/>
            <a:ext cx="1397000" cy="9144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57A1A48-6CF3-483C-AC50-C9AC0BE7056D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76" y="2745821"/>
            <a:ext cx="1104454" cy="914400"/>
          </a:xfrm>
          <a:prstGeom prst="rect">
            <a:avLst/>
          </a:prstGeom>
        </p:spPr>
      </p:pic>
      <p:pic>
        <p:nvPicPr>
          <p:cNvPr id="16" name="Gráfico 8">
            <a:extLst>
              <a:ext uri="{FF2B5EF4-FFF2-40B4-BE49-F238E27FC236}">
                <a16:creationId xmlns:a16="http://schemas.microsoft.com/office/drawing/2014/main" id="{6A28DBD0-A285-4AC3-9ACD-D59477CC8D82}"/>
              </a:ext>
            </a:extLst>
          </p:cNvPr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97639" y="2641046"/>
            <a:ext cx="1276124" cy="112395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A20AEDC4-D99B-4FAC-8186-2A141A1311E1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3325006" y="2745821"/>
            <a:ext cx="2008994" cy="91440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2FB9C7F8-CD5F-4EE1-AC32-4683FCBE3C22}"/>
              </a:ext>
            </a:extLst>
          </p:cNvPr>
          <p:cNvPicPr/>
          <p:nvPr/>
        </p:nvPicPr>
        <p:blipFill>
          <a:blip r:embed="rId12"/>
          <a:stretch>
            <a:fillRect/>
          </a:stretch>
        </p:blipFill>
        <p:spPr>
          <a:xfrm>
            <a:off x="5023040" y="1519104"/>
            <a:ext cx="1530160" cy="914401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A9409BE-E5BF-49F0-A988-5B6B9940DC10}"/>
              </a:ext>
            </a:extLst>
          </p:cNvPr>
          <p:cNvPicPr/>
          <p:nvPr/>
        </p:nvPicPr>
        <p:blipFill>
          <a:blip r:embed="rId13"/>
          <a:stretch>
            <a:fillRect/>
          </a:stretch>
        </p:blipFill>
        <p:spPr>
          <a:xfrm>
            <a:off x="4929251" y="2709996"/>
            <a:ext cx="1623949" cy="742315"/>
          </a:xfrm>
          <a:prstGeom prst="rect">
            <a:avLst/>
          </a:prstGeom>
        </p:spPr>
      </p:pic>
      <p:pic>
        <p:nvPicPr>
          <p:cNvPr id="20" name="Picture 4481">
            <a:extLst>
              <a:ext uri="{FF2B5EF4-FFF2-40B4-BE49-F238E27FC236}">
                <a16:creationId xmlns:a16="http://schemas.microsoft.com/office/drawing/2014/main" id="{A6FABB48-4070-43AB-A1F9-078CFE32F57B}"/>
              </a:ext>
            </a:extLst>
          </p:cNvPr>
          <p:cNvPicPr/>
          <p:nvPr/>
        </p:nvPicPr>
        <p:blipFill>
          <a:blip r:embed="rId14"/>
          <a:stretch>
            <a:fillRect/>
          </a:stretch>
        </p:blipFill>
        <p:spPr>
          <a:xfrm>
            <a:off x="6790690" y="1319346"/>
            <a:ext cx="1273607" cy="1252404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45082791-D527-40FD-A5DC-011398F0581D}"/>
              </a:ext>
            </a:extLst>
          </p:cNvPr>
          <p:cNvPicPr/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150" y="2641046"/>
            <a:ext cx="1606685" cy="914400"/>
          </a:xfrm>
          <a:prstGeom prst="rect">
            <a:avLst/>
          </a:prstGeom>
        </p:spPr>
      </p:pic>
      <p:pic>
        <p:nvPicPr>
          <p:cNvPr id="22" name="Gráfico 24">
            <a:extLst>
              <a:ext uri="{FF2B5EF4-FFF2-40B4-BE49-F238E27FC236}">
                <a16:creationId xmlns:a16="http://schemas.microsoft.com/office/drawing/2014/main" id="{7F71C8C9-88E4-4C8F-8374-1A6827E8C2C2}"/>
              </a:ext>
            </a:extLst>
          </p:cNvPr>
          <p:cNvPicPr/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9600" y="3646073"/>
            <a:ext cx="1613522" cy="1211677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A04EDAB7-1A09-4BEA-BDB1-6DA555072C67}"/>
              </a:ext>
            </a:extLst>
          </p:cNvPr>
          <p:cNvPicPr/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954" y="3784024"/>
            <a:ext cx="1623950" cy="1029173"/>
          </a:xfrm>
          <a:prstGeom prst="rect">
            <a:avLst/>
          </a:prstGeom>
        </p:spPr>
      </p:pic>
      <p:pic>
        <p:nvPicPr>
          <p:cNvPr id="24" name="Gráfico 26">
            <a:extLst>
              <a:ext uri="{FF2B5EF4-FFF2-40B4-BE49-F238E27FC236}">
                <a16:creationId xmlns:a16="http://schemas.microsoft.com/office/drawing/2014/main" id="{A0ED792D-EEDD-49C9-AA45-F0AA579ADD3B}"/>
              </a:ext>
            </a:extLst>
          </p:cNvPr>
          <p:cNvPicPr/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095904" y="3612847"/>
            <a:ext cx="2216525" cy="99060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F00F3C23-8E4B-4452-84B3-528A7C5D9BF1}"/>
              </a:ext>
            </a:extLst>
          </p:cNvPr>
          <p:cNvPicPr/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840" y="3452311"/>
            <a:ext cx="3093160" cy="11992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9775" y="1229105"/>
            <a:ext cx="612584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3795" marR="5080" indent="-114173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COMPONENTE PRÁTICA</a:t>
            </a:r>
            <a:endParaRPr sz="6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590550"/>
            <a:ext cx="28194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304800" y="1095817"/>
            <a:ext cx="8534400" cy="33374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5080" indent="0" algn="just">
              <a:lnSpc>
                <a:spcPct val="150000"/>
              </a:lnSpc>
              <a:spcBef>
                <a:spcPts val="105"/>
              </a:spcBef>
              <a:buNone/>
            </a:pPr>
            <a:r>
              <a:rPr lang="pt-BR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trabalho demonstrou que a integração entre Ciências Criminais e Engenharia Informática permitiu desenvolver e validar uma plataforma digital eficaz que transforma dados de vitimização criminal em informação estratégica, evidenciando um contexto de elevada insegurança no município da Samba e a necessidade de intervenções integradas para o reforço da segurança pública.</a:t>
            </a:r>
            <a:endParaRPr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1733550"/>
            <a:ext cx="7886700" cy="994172"/>
          </a:xfrm>
        </p:spPr>
        <p:txBody>
          <a:bodyPr>
            <a:normAutofit/>
          </a:bodyPr>
          <a:lstStyle/>
          <a:p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AGRADECEMOS PELA ATENÇÃO!</a:t>
            </a:r>
          </a:p>
        </p:txBody>
      </p:sp>
    </p:spTree>
    <p:extLst>
      <p:ext uri="{BB962C8B-B14F-4D97-AF65-F5344CB8AC3E}">
        <p14:creationId xmlns:p14="http://schemas.microsoft.com/office/powerpoint/2010/main" val="745526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8859</TotalTime>
  <Words>193</Words>
  <Application>Microsoft Office PowerPoint</Application>
  <PresentationFormat>Apresentação na tela (16:9)</PresentationFormat>
  <Paragraphs>40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CURSO DE CIÊNCIAS CRIMINAIS  E  ENGENHARIA INFORMÁTICA E SISTEMAS DE INFORMAÇÃO</vt:lpstr>
      <vt:lpstr>INTRODUÇÃO</vt:lpstr>
      <vt:lpstr>PROBLEMA DE PESQUISA</vt:lpstr>
      <vt:lpstr>HIPÓTESES</vt:lpstr>
      <vt:lpstr>OBJECTIVO GERAL</vt:lpstr>
      <vt:lpstr>OBJECTIVOS ESPECÍFICOS</vt:lpstr>
      <vt:lpstr>Apresentação do PowerPoint</vt:lpstr>
      <vt:lpstr>Apresentação do PowerPoint</vt:lpstr>
      <vt:lpstr>FUNDAMENTAÇÃO TEÓRICA</vt:lpstr>
      <vt:lpstr>FERRAMENTAS UTILIZADAS PARA O DESENVOLVIMENDO DA PLATAFORMA WEB</vt:lpstr>
      <vt:lpstr>COMPONENTE PRÁTICA</vt:lpstr>
      <vt:lpstr>CONCLUSÃO</vt:lpstr>
      <vt:lpstr>AGRADECEMOS PELA ATENÇÃO!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INSTITUTO SUPERIOR POLITÉCNICO DE CIÊNCIAS E TECNOLOGIA CURSO DE ENGENHARIA INFORMÁTICA E SISTEMAS DE INFORMAÇÃO</dc:title>
  <dc:creator>Arisvalter José</dc:creator>
  <cp:lastModifiedBy>Clementina Katchinombelo Ulombe Ulombe</cp:lastModifiedBy>
  <cp:revision>21</cp:revision>
  <dcterms:created xsi:type="dcterms:W3CDTF">2026-04-13T21:20:41Z</dcterms:created>
  <dcterms:modified xsi:type="dcterms:W3CDTF">2026-04-22T12:07:10Z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2026-01-10T00:00:00Z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2026-04-13T00:00:00Z</vt:filetime>
  </property>
  <property fmtid="{D5CDD505-2E9C-101B-9397-08002B2CF9AE}" pid="5" name="Producer">
    <vt:lpwstr>3-Heights(TM) PDF Security Shell 4.8.25.2 (http://www.pdf-tools.com)</vt:lpwstr>
  </property>
</Properties>
</file>